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489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3840480" cy="9144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Generesta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312724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Demographic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Turnover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657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39136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Khang Nguyen · Yue Dong Pan · Mitchell Opeshansky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411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Southern Ontario Operations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868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Workforce Facts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298448"/>
            <a:ext cx="2148840" cy="1234440"/>
          </a:xfrm>
          <a:prstGeom prst="rect">
            <a:avLst/>
          </a:prstGeom>
          <a:solidFill>
            <a:srgbClr val="2E5D8E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60520" y="1344168"/>
            <a:ext cx="205740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3,217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160520" y="2039112"/>
            <a:ext cx="205740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1298448"/>
            <a:ext cx="2148840" cy="1234440"/>
          </a:xfrm>
          <a:prstGeom prst="rect">
            <a:avLst/>
          </a:prstGeom>
          <a:solidFill>
            <a:srgbClr val="1A4A7A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1344168"/>
            <a:ext cx="205740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73.8%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92240" y="2039112"/>
            <a:ext cx="205740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Workforce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2715768"/>
            <a:ext cx="2148840" cy="1234440"/>
          </a:xfrm>
          <a:prstGeom prst="rect">
            <a:avLst/>
          </a:prstGeom>
          <a:solidFill>
            <a:srgbClr val="1F5C8B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60520" y="2761488"/>
            <a:ext cx="205740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21.1%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160520" y="3456432"/>
            <a:ext cx="205740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2715768"/>
            <a:ext cx="2148840" cy="1234440"/>
          </a:xfrm>
          <a:prstGeom prst="rect">
            <a:avLst/>
          </a:prstGeom>
          <a:solidFill>
            <a:srgbClr val="2E5D8E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2761488"/>
            <a:ext cx="205740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529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92240" y="3456432"/>
            <a:ext cx="205740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Retirements (4 yrs)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188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978408"/>
            <a:ext cx="438912" cy="438912"/>
          </a:xfrm>
          <a:prstGeom prst="ellipse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78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" y="9601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1887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Generesta? Data sources &amp; scope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865376"/>
            <a:ext cx="438912" cy="438912"/>
          </a:xfrm>
          <a:prstGeom prst="ellipse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865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1847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Occupation Distribution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" y="2075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breakdown &amp; gender by occupation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752344"/>
            <a:ext cx="438912" cy="438912"/>
          </a:xfrm>
          <a:prstGeom prst="ellipse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752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27340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Workforce Demographics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7824" y="2962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age, and employment status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3639312"/>
            <a:ext cx="438912" cy="438912"/>
          </a:xfrm>
          <a:prstGeom prst="ellipse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" y="36210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Turnover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" y="38496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vs. involuntary, 2007–2010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978408"/>
            <a:ext cx="438912" cy="438912"/>
          </a:xfrm>
          <a:prstGeom prst="ellipse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978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76672" y="9601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Leave of Absence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76672" y="11887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&amp; reason code analysis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865376"/>
            <a:ext cx="438912" cy="438912"/>
          </a:xfrm>
          <a:prstGeom prst="ellipse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865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76672" y="1847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Retirement Trends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2075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4-year review &amp; knowledge risk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752344"/>
            <a:ext cx="438912" cy="438912"/>
          </a:xfrm>
          <a:prstGeom prst="ellipse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2752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76672" y="27340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76672" y="2962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strategic priorities for leadership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4592" y="4919472"/>
            <a:ext cx="8979408" cy="22402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49286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Generesta Engineering Consulting  |  Workforce Analysis  |  Group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188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92608" y="914400"/>
            <a:ext cx="50292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Generesta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353312"/>
            <a:ext cx="466344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engineering &amp; technical consulting firm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Headquartered in Southern Ontario, Canada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~3,217 active employees across all functions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4 key sectors of the Canadian economy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extend into select northern U.S. states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spans C-suite to trades and admin staff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3291840" cy="1554480"/>
          </a:xfrm>
          <a:prstGeom prst="rect">
            <a:avLst/>
          </a:prstGeom>
          <a:solidFill>
            <a:srgbClr val="2E5D8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15000" y="987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15000" y="1261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Payroll Database Master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1536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employees: occupation,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age, employment 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578608"/>
            <a:ext cx="3291840" cy="1554480"/>
          </a:xfrm>
          <a:prstGeom prst="rect">
            <a:avLst/>
          </a:prstGeom>
          <a:solidFill>
            <a:srgbClr val="1A4A7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1500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Terminated Employee Database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separations: category,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and year of termination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" y="4919472"/>
            <a:ext cx="8979408" cy="22402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9286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Generesta Engineering Consulting  |  Workforce Analysis  |  Group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5D8E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Occupation Distribution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Gender Breakdown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works at </a:t>
            </a:r>
            <a:r>
              <a:rPr lang="en-US" sz="1600" i="1" dirty="0" err="1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Generesta</a:t>
            </a:r>
            <a:r>
              <a:rPr lang="en-US" sz="16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and how is representation distributed?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188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Occupation Distribution — All Employees</a:t>
            </a:r>
            <a:endParaRPr lang="en-US" sz="2200" dirty="0"/>
          </a:p>
        </p:txBody>
      </p:sp>
      <p:pic>
        <p:nvPicPr>
          <p:cNvPr id="5" name="Image 0" descr="/home/claude/final_report_unpacked/word/media/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868680"/>
            <a:ext cx="5029200" cy="3913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914400"/>
            <a:ext cx="3291840" cy="868680"/>
          </a:xfrm>
          <a:prstGeom prst="rect">
            <a:avLst/>
          </a:prstGeom>
          <a:solidFill>
            <a:srgbClr val="2E5D8E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32120" y="960120"/>
            <a:ext cx="32004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678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532120" y="1435608"/>
            <a:ext cx="32004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(21.1%)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1901952"/>
            <a:ext cx="3291840" cy="868680"/>
          </a:xfrm>
          <a:prstGeom prst="rect">
            <a:avLst/>
          </a:prstGeom>
          <a:solidFill>
            <a:srgbClr val="1A4A7A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532120" y="1947672"/>
            <a:ext cx="32004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646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532120" y="2423160"/>
            <a:ext cx="32004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(20.1%)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0" y="2889504"/>
            <a:ext cx="3291840" cy="868680"/>
          </a:xfrm>
          <a:prstGeom prst="rect">
            <a:avLst/>
          </a:prstGeom>
          <a:solidFill>
            <a:srgbClr val="2E5D8E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32120" y="2935224"/>
            <a:ext cx="32004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301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532120" y="3410712"/>
            <a:ext cx="32004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0" y="3877056"/>
            <a:ext cx="3291840" cy="868680"/>
          </a:xfrm>
          <a:prstGeom prst="rect">
            <a:avLst/>
          </a:prstGeom>
          <a:solidFill>
            <a:srgbClr val="1A4A7A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32120" y="3922776"/>
            <a:ext cx="32004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301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5532120" y="4398264"/>
            <a:ext cx="32004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Clerks/Assist.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0" y="4572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+ Trades = 40%+ of headcount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64592" y="4919472"/>
            <a:ext cx="8979408" cy="22402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4320" y="49286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Generesta Engineering Consulting  |  Workforce Analysis  |  Group 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188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Occupation by Gender - Key Findings</a:t>
            </a:r>
            <a:endParaRPr lang="en-US" sz="2200" dirty="0"/>
          </a:p>
        </p:txBody>
      </p:sp>
      <p:pic>
        <p:nvPicPr>
          <p:cNvPr id="5" name="Image 0" descr="/home/claude/final_report_unpacked/word/media/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841248"/>
            <a:ext cx="8595360" cy="297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3913632"/>
            <a:ext cx="2743200" cy="841248"/>
          </a:xfrm>
          <a:prstGeom prst="rect">
            <a:avLst/>
          </a:prstGeom>
          <a:solidFill>
            <a:srgbClr val="2E5D8E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56032" y="3931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14:1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56032" y="43159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Male-to-Female ratio in Engineering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63824" y="3913632"/>
            <a:ext cx="2743200" cy="841248"/>
          </a:xfrm>
          <a:prstGeom prst="rect">
            <a:avLst/>
          </a:prstGeom>
          <a:solidFill>
            <a:srgbClr val="1A4A7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63824" y="3931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9:1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163824" y="43159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Male-to-Female ratio in Trades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71616" y="3913632"/>
            <a:ext cx="2743200" cy="841248"/>
          </a:xfrm>
          <a:prstGeom prst="rect">
            <a:avLst/>
          </a:prstGeom>
          <a:solidFill>
            <a:srgbClr val="4A90C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71616" y="3931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~1:6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071616" y="43159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Male-to-Female ratio in Clerks/Assistants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64592" y="4919472"/>
            <a:ext cx="8979408" cy="22402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74320" y="49286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Generesta Engineering Consulting  |  Workforce Analysis  |  Group 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5D8E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Workforce Demographics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 distribution, and employment status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188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Workforce Demographics - Combined Dashboard</a:t>
            </a:r>
            <a:endParaRPr lang="en-US" sz="2200" dirty="0"/>
          </a:p>
        </p:txBody>
      </p:sp>
      <p:pic>
        <p:nvPicPr>
          <p:cNvPr id="5" name="Image 0" descr="/home/claude/final_report_unpacked/word/media/image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868680"/>
            <a:ext cx="859536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4178808"/>
            <a:ext cx="2743200" cy="658368"/>
          </a:xfrm>
          <a:prstGeom prst="rect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56032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73.8% Male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6032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26.2% Female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4178808"/>
            <a:ext cx="2743200" cy="65836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Peak: 40–49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aged 40–59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44768" y="4178808"/>
            <a:ext cx="2743200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44768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92.4% Active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44768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 on Leave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64592" y="4919472"/>
            <a:ext cx="8979408" cy="22402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74320" y="49286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Generesta Engineering Consulting  |  Workforce Analysis  |  Group 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188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Distribution &amp; Employment Status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595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Distribution</a:t>
            </a:r>
            <a:endParaRPr lang="en-US" sz="1300" dirty="0"/>
          </a:p>
        </p:txBody>
      </p:sp>
      <p:pic>
        <p:nvPicPr>
          <p:cNvPr id="6" name="Image 0" descr="/home/claude/final_report_unpacked/word/media/image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1170432"/>
            <a:ext cx="50292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68112" y="8595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Employment Status</a:t>
            </a:r>
            <a:endParaRPr lang="en-US" sz="1300" dirty="0"/>
          </a:p>
        </p:txBody>
      </p:sp>
      <p:pic>
        <p:nvPicPr>
          <p:cNvPr id="8" name="Image 1" descr="/home/claude/final_report_unpacked/word/media/image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49240" y="1170432"/>
            <a:ext cx="3520440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6032" y="3566160"/>
            <a:ext cx="859536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56032" y="3566160"/>
            <a:ext cx="73152" cy="9144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" y="3630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Insight: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3886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employees fall in the 40–59 age bracket — creating an imminent succession risk as this cohort approaches retirement age over the next decade.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64592" y="4919472"/>
            <a:ext cx="8979408" cy="22402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74320" y="49286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Generesta Engineering Consulting  |  Workforce Analysis  |  Group 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5D8E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Turnover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vs. Involuntary separations - 2007 to 2010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188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Voluntary vs. Involuntary Turnover (2007–2010)</a:t>
            </a:r>
            <a:endParaRPr lang="en-US" sz="2100" dirty="0"/>
          </a:p>
        </p:txBody>
      </p:sp>
      <p:pic>
        <p:nvPicPr>
          <p:cNvPr id="5" name="Image 0" descr="/home/claude/final_report_unpacked/word/media/image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868680"/>
            <a:ext cx="5394960" cy="27432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960120"/>
          <a:ext cx="3017520" cy="169164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Invol.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852160" y="2788920"/>
            <a:ext cx="3017520" cy="16916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943600" y="28529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2008 Financial Crisis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943600" y="3145536"/>
            <a:ext cx="2834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Involuntary turnover surged from 17.3% in 2008 to 80.2% in 2009 — a direct consequence of large-scale layoffs during the economic downturn.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64592" y="4919472"/>
            <a:ext cx="8979408" cy="22402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274320" y="49286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Generesta Engineering Consulting  |  Workforce Analysis  |  Group 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188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Termination Reasons - All Years Combined</a:t>
            </a:r>
            <a:endParaRPr lang="en-US" sz="2100" dirty="0"/>
          </a:p>
        </p:txBody>
      </p:sp>
      <p:pic>
        <p:nvPicPr>
          <p:cNvPr id="5" name="Image 0" descr="/home/claude/final_report_unpacked/word/media/image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868680"/>
            <a:ext cx="5120640" cy="3913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59552" y="914400"/>
            <a:ext cx="3291840" cy="804672"/>
          </a:xfrm>
          <a:prstGeom prst="rect">
            <a:avLst/>
          </a:prstGeom>
          <a:solidFill>
            <a:srgbClr val="2E5D8E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96128" y="94183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35040" y="941832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777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720840" y="941832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Layoff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59552" y="1856232"/>
            <a:ext cx="3291840" cy="804672"/>
          </a:xfrm>
          <a:prstGeom prst="rect">
            <a:avLst/>
          </a:prstGeom>
          <a:solidFill>
            <a:srgbClr val="1A4A7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596128" y="1883664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35040" y="1883664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427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720840" y="1883664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Retirement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59552" y="2798064"/>
            <a:ext cx="3291840" cy="804672"/>
          </a:xfrm>
          <a:prstGeom prst="rect">
            <a:avLst/>
          </a:prstGeom>
          <a:solidFill>
            <a:srgbClr val="4A90C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96128" y="2825496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35040" y="2825496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20840" y="2825496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59552" y="3739896"/>
            <a:ext cx="3291840" cy="804672"/>
          </a:xfrm>
          <a:prstGeom prst="rect">
            <a:avLst/>
          </a:prstGeom>
          <a:solidFill>
            <a:srgbClr val="28609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596128" y="376732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35040" y="3767328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137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720840" y="376732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Issues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59552" y="46817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separations: 1,942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64592" y="4919472"/>
            <a:ext cx="8979408" cy="22402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74320" y="49286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Generesta Engineering Consulting  |  Workforce Analysis  |  Group 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5D8E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Leave of Absence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analysis by gender and reason code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188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Leave of Absence - Gender &amp; Reason Breakdown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841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Gender vs. LOA Share</a:t>
            </a:r>
            <a:endParaRPr lang="en-US" sz="1200" dirty="0"/>
          </a:p>
        </p:txBody>
      </p:sp>
      <p:pic>
        <p:nvPicPr>
          <p:cNvPr id="6" name="Image 0" descr="/home/claude/final_report_unpacked/word/media/image1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1143000"/>
            <a:ext cx="4754880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841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 Code Breakdown</a:t>
            </a:r>
            <a:endParaRPr lang="en-US" sz="1200" dirty="0"/>
          </a:p>
        </p:txBody>
      </p:sp>
      <p:pic>
        <p:nvPicPr>
          <p:cNvPr id="8" name="Image 1" descr="/home/claude/final_report_unpacked/word/media/image1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20640" y="1143000"/>
            <a:ext cx="3749040" cy="2606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6032" y="3840480"/>
            <a:ext cx="8595360" cy="98755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56032" y="3840480"/>
            <a:ext cx="73152" cy="98755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" y="391363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are 26.2% of the workforce but 53.5% of LOA cases. LTD alone accounts for 61.6% of all leaves — pointing to occupational health risks in trades &amp; engineering roles.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64592" y="4919472"/>
            <a:ext cx="8979408" cy="22402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74320" y="49286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Generesta Engineering Consulting  |  Workforce Analysis  |  Group 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5D8E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Retirement Trends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4-year review of early and standard retirements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188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Retirement Analysis - Last 4 Years</a:t>
            </a:r>
            <a:endParaRPr lang="en-US" sz="2200" dirty="0"/>
          </a:p>
        </p:txBody>
      </p:sp>
      <p:pic>
        <p:nvPicPr>
          <p:cNvPr id="5" name="Image 0" descr="/home/claude/final_report_unpacked/word/media/image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868680"/>
            <a:ext cx="530352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42432" y="914400"/>
            <a:ext cx="3108960" cy="1005840"/>
          </a:xfrm>
          <a:prstGeom prst="rect">
            <a:avLst/>
          </a:prstGeom>
          <a:solidFill>
            <a:srgbClr val="2E5D8E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88152" y="960120"/>
            <a:ext cx="301752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529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788152" y="1517904"/>
            <a:ext cx="30175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Retirements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(4-year period)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42432" y="2011680"/>
            <a:ext cx="3108960" cy="1005840"/>
          </a:xfrm>
          <a:prstGeom prst="rect">
            <a:avLst/>
          </a:prstGeom>
          <a:solidFill>
            <a:srgbClr val="1A4A7A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88152" y="2057400"/>
            <a:ext cx="301752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80.7%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788152" y="2615184"/>
            <a:ext cx="30175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Retirement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42432" y="3108960"/>
            <a:ext cx="3108960" cy="1005840"/>
          </a:xfrm>
          <a:prstGeom prst="rect">
            <a:avLst/>
          </a:prstGeom>
          <a:solidFill>
            <a:srgbClr val="4A90C4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88152" y="3154680"/>
            <a:ext cx="301752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 yrs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788152" y="3712464"/>
            <a:ext cx="30175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Retirement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6032" y="4206240"/>
            <a:ext cx="8595360" cy="65836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56032" y="4206240"/>
            <a:ext cx="73152" cy="658368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4251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80.7% early retirement rate — likely tied to incentive programs during the 2009–2010 restructuring. Retiring employees carry ~30 years of institutional knowledge, creating a significant succession risk.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64592" y="4919472"/>
            <a:ext cx="8979408" cy="22402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74320" y="49286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Generesta Engineering Consulting  |  Workforce Analysis  |  Group 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5D8E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strategic priorities for Generesta's leadership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188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 — Part 1 of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859536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502920" cy="1225296"/>
          </a:xfrm>
          <a:prstGeom prst="rect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914400"/>
            <a:ext cx="502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Gender Diversity in Technical Roles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280160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Ontario universities for STEM co-op pipelines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job postings for inclusive language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3–5 year gender diversity hiring targets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2267712"/>
            <a:ext cx="859536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2267712"/>
            <a:ext cx="502920" cy="1225296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2267712"/>
            <a:ext cx="502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3408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Succession &amp; Knowledge Transfer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633472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internal successors for top 100–150 retirement-risk roles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knowledge-capture and mentoring pair programs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phased retirement arrangements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3621024"/>
            <a:ext cx="859536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3621024"/>
            <a:ext cx="502920" cy="1225296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3621024"/>
            <a:ext cx="502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 LTD &amp; Workplace Health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3986784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Ergonomics review across trades &amp; field operations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EAP, physiotherapy, and early return-to-work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LTD cases by department to find high-risk areas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" y="4919472"/>
            <a:ext cx="8979408" cy="22402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9286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Generesta Engineering Consulting  |  Workforce Analysis  |  Group 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188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 — Part 2 of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859536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502920" cy="1225296"/>
          </a:xfrm>
          <a:prstGeom prst="rect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914400"/>
            <a:ext cx="502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Strengthen Retention for Voluntary Turnover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280160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structured exit interviews to identify root causes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total compensation annually vs. market rates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visible career ladders for technical staff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2267712"/>
            <a:ext cx="859536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2267712"/>
            <a:ext cx="502920" cy="1225296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2267712"/>
            <a:ext cx="502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3408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Return-to-Work Support for Leave Employees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633472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flexible scheduling for LTD and parental returnees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managers on Ontario accommodation &amp; HR legislation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dedicated HR partners to employees on extended leave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3621024"/>
            <a:ext cx="859536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3621024"/>
            <a:ext cx="502920" cy="1225296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3621024"/>
            <a:ext cx="502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Institutionalize Workforce Analytics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3986784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Power BI / Tableau connected to live HR systems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quarterly executive HR dashboard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retirement &amp; attrition models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" y="4919472"/>
            <a:ext cx="8979408" cy="22402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9286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Generesta Engineering Consulting  |  Workforce Analysis  |  Group 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932688"/>
            <a:ext cx="4023360" cy="1115568"/>
          </a:xfrm>
          <a:prstGeom prst="rect">
            <a:avLst/>
          </a:prstGeom>
          <a:solidFill>
            <a:srgbClr val="1B2E4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932688"/>
            <a:ext cx="54864" cy="1115568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Technically-led workforce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" y="129844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+ Trades represent 41% of headcount; the firm's core strength is its technical depth.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2194560"/>
            <a:ext cx="4023360" cy="1115568"/>
          </a:xfrm>
          <a:prstGeom prst="rect">
            <a:avLst/>
          </a:prstGeom>
          <a:solidFill>
            <a:srgbClr val="1B2E4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" y="2194560"/>
            <a:ext cx="54864" cy="1115568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7824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Gender gaps require action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2560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 male/female in Engineering; structural gaps need targeted recruitment and policy changes.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3456432"/>
            <a:ext cx="4023360" cy="1115568"/>
          </a:xfrm>
          <a:prstGeom prst="rect">
            <a:avLst/>
          </a:prstGeom>
          <a:solidFill>
            <a:srgbClr val="1B2E4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3456432"/>
            <a:ext cx="54864" cy="1115568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7824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Aging workforce is a priority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" y="38221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employees aged 40–59 - succession planning is an immediate need, not a future one.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01768" y="932688"/>
            <a:ext cx="4023360" cy="1115568"/>
          </a:xfrm>
          <a:prstGeom prst="rect">
            <a:avLst/>
          </a:prstGeom>
          <a:solidFill>
            <a:srgbClr val="1B2E4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01768" y="932688"/>
            <a:ext cx="54864" cy="1115568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9784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Recession left a lasting mark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9784" y="129844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Involuntary turnover hit 84.6% in 2010. Retention strategies are critical as the market recovers.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01768" y="2194560"/>
            <a:ext cx="4023360" cy="1115568"/>
          </a:xfrm>
          <a:prstGeom prst="rect">
            <a:avLst/>
          </a:prstGeom>
          <a:solidFill>
            <a:srgbClr val="1B2E4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01768" y="2194560"/>
            <a:ext cx="54864" cy="1115568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9784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absences are high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9784" y="2560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61.6% of LOA cases are LTD - occupational health investment will reduce long-term costs.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01768" y="3456432"/>
            <a:ext cx="4023360" cy="1115568"/>
          </a:xfrm>
          <a:prstGeom prst="rect">
            <a:avLst/>
          </a:prstGeom>
          <a:solidFill>
            <a:srgbClr val="1B2E4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01768" y="3456432"/>
            <a:ext cx="54864" cy="1115568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9784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retirement drains knowledge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9784" y="38221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80.7% early exit rate means institutional expertise is leaving faster than expected.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Group 4: Khang Nguyen · Yue Dong Pan · Mitchell Opeshansky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Application>Microsoft Office PowerPoint</Application>
  <PresentationFormat>On-screen Show (16:9)</PresentationFormat>
  <Paragraphs>232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Generesta Engineering Consulting — Workforce Analysis</dc:title>
  <dc:subject>PptxGenJS Presentation</dc:subject>
  <dc:creator>Group 4</dc:creator>
  <cp:lastModifiedBy>Khang Nguyen</cp:lastModifiedBy>
  <cp:revision>2</cp:revision>
  <dcterms:created xsi:type="dcterms:W3CDTF">2026-03-10T03:59:16Z</dcterms:created>
  <dcterms:modified xsi:type="dcterms:W3CDTF">2026-03-10T12:58:34Z</dcterms:modified>
</cp:coreProperties>
</file>